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80C1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B1222"/>
          </a:solidFill>
          <a:ln w="12700">
            <a:solidFill>
              <a:srgbClr val="0B1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9472" y="0"/>
            <a:ext cx="36576" cy="5143500"/>
          </a:xfrm>
          <a:prstGeom prst="rect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E9CF5">
              <a:alpha val="8000"/>
            </a:srgbClr>
          </a:solidFill>
          <a:ln w="6350">
            <a:solidFill>
              <a:srgbClr val="5E9CF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2926080"/>
            <a:ext cx="2560320" cy="2560320"/>
          </a:xfrm>
          <a:prstGeom prst="ellipse">
            <a:avLst/>
          </a:prstGeom>
          <a:solidFill>
            <a:srgbClr val="A78BFA">
              <a:alpha val="8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02920"/>
            <a:ext cx="2039112" cy="256032"/>
          </a:xfrm>
          <a:prstGeom prst="rect">
            <a:avLst>
              <a:gd name="adj" fmla="val 14286"/>
            </a:avLst>
          </a:prstGeom>
          <a:solidFill>
            <a:srgbClr val="5E9CF5">
              <a:alpha val="25000"/>
            </a:srgbClr>
          </a:solidFill>
          <a:ln w="6350">
            <a:solidFill>
              <a:srgbClr val="5E9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3035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IOP FINAL YEAR PROJECT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9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Debt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Optimizer Platform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· Secure Context Injection · Real-time CIBIL 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292608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Kumar  ·  UID: 22BCS14872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B8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12080" y="1737360"/>
            <a:ext cx="3200400" cy="347472"/>
          </a:xfrm>
          <a:prstGeom prst="rect">
            <a:avLst/>
          </a:prstGeom>
          <a:solidFill>
            <a:srgbClr val="5E9CF5">
              <a:alpha val="18000"/>
            </a:srgbClr>
          </a:solidFill>
          <a:ln w="7620">
            <a:solidFill>
              <a:srgbClr val="5E9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773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2240280"/>
            <a:ext cx="3200400" cy="347472"/>
          </a:xfrm>
          <a:prstGeom prst="rect">
            <a:avLst/>
          </a:prstGeom>
          <a:solidFill>
            <a:srgbClr val="34D399">
              <a:alpha val="18000"/>
            </a:srgbClr>
          </a:solidFill>
          <a:ln w="762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276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743200"/>
            <a:ext cx="3200400" cy="347472"/>
          </a:xfrm>
          <a:prstGeom prst="rect">
            <a:avLst/>
          </a:prstGeom>
          <a:solidFill>
            <a:srgbClr val="FBBF24">
              <a:alpha val="18000"/>
            </a:srgbClr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246120"/>
            <a:ext cx="3200400" cy="347472"/>
          </a:xfrm>
          <a:prstGeom prst="rect">
            <a:avLst/>
          </a:prstGeom>
          <a:solidFill>
            <a:srgbClr val="A78BFA">
              <a:alpha val="18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282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(Llama-3 70B)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3749040"/>
            <a:ext cx="3200400" cy="1097280"/>
          </a:xfrm>
          <a:prstGeom prst="rect">
            <a:avLst/>
          </a:prstGeom>
          <a:solidFill>
            <a:srgbClr val="0D1528"/>
          </a:solidFill>
          <a:ln w="12700">
            <a:solidFill>
              <a:srgbClr val="5E9CF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565392" y="4005072"/>
            <a:ext cx="402336" cy="402336"/>
          </a:xfrm>
          <a:prstGeom prst="ellipse">
            <a:avLst/>
          </a:prstGeom>
          <a:solidFill>
            <a:srgbClr val="5E9CF5">
              <a:alpha val="30000"/>
            </a:srgbClr>
          </a:solidFill>
          <a:ln w="6350">
            <a:solidFill>
              <a:srgbClr val="5E9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0416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Dashboard Screenshot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4736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 · CIBIL Score · AreaChart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Critical Failures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FinTech AI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51760" cy="2606040"/>
          </a:xfrm>
          <a:prstGeom prst="rect">
            <a:avLst/>
          </a:prstGeom>
          <a:solidFill>
            <a:srgbClr val="151D30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64008" cy="2606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 Hallucinations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text predictors—not calculators. They routinely fabricate amortized interest figures, producing dangerous advice.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51760" cy="2606040"/>
          </a:xfrm>
          <a:prstGeom prst="rect">
            <a:avLst/>
          </a:prstGeom>
          <a:solidFill>
            <a:srgbClr val="151D30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91640"/>
            <a:ext cx="64008" cy="2606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Susceptibility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8620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blindly validate lottery scams, crypto windfalls, and financial fraud without any detection layer.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2651760" cy="2606040"/>
          </a:xfrm>
          <a:prstGeom prst="rect">
            <a:avLst/>
          </a:prstGeom>
          <a:solidFill>
            <a:srgbClr val="151D30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91640"/>
            <a:ext cx="64008" cy="2606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 Violations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8620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users to type PAN, loan details, and Aadhaar numbers into open chat boxes violates India's DPDP Act.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384048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F8717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21992" y="4416552"/>
            <a:ext cx="402336" cy="402336"/>
          </a:xfrm>
          <a:prstGeom prst="ellipse">
            <a:avLst/>
          </a:prstGeom>
          <a:solidFill>
            <a:srgbClr val="F87171">
              <a:alpha val="3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44531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873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ChatGPT math fail + Scam WhatsApp screenshot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148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solidFill>
            <a:srgbClr val="5E9CF5">
              <a:alpha val="25000"/>
            </a:srgbClr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167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73152" cy="73152"/>
          </a:xfrm>
          <a:prstGeom prst="ellipse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075688"/>
            <a:ext cx="73152" cy="73152"/>
          </a:xfrm>
          <a:prstGeom prst="ellipse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(Data Viz)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395728"/>
            <a:ext cx="73152" cy="73152"/>
          </a:xfrm>
          <a:prstGeom prst="ellipse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 + TypeScript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626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/ CLOUD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340156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72160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48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04164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Proxy Layer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1280160"/>
            <a:ext cx="402336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280160"/>
            <a:ext cx="4023360" cy="32004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167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AUTH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01768" y="175564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01768" y="207568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Phone Auth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01768" y="239572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DPDP-Compliant Routing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2926080"/>
            <a:ext cx="402336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926080"/>
            <a:ext cx="4023360" cy="320040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9626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01768" y="340156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Inference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01768" y="372160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3648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01768" y="404164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370832" y="4425696"/>
            <a:ext cx="402336" cy="402336"/>
          </a:xfrm>
          <a:prstGeom prst="ellipse">
            <a:avLst/>
          </a:prstGeom>
          <a:solidFill>
            <a:srgbClr val="A78BFA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4622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4882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Architecture flowchart — Frontend → Backend → Firebase → Groq API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51572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INNOVATION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Multi-Agent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Debating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737360" cy="1645920"/>
          </a:xfrm>
          <a:prstGeom prst="rect">
            <a:avLst/>
          </a:prstGeom>
          <a:solidFill>
            <a:srgbClr val="151D3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783080"/>
            <a:ext cx="365760" cy="365760"/>
          </a:xfrm>
          <a:prstGeom prst="ellipse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question input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2514600"/>
            <a:ext cx="594360" cy="27432"/>
          </a:xfrm>
          <a:prstGeom prst="rect">
            <a:avLst/>
          </a:prstGeom>
          <a:solidFill>
            <a:srgbClr val="7B8FB3"/>
          </a:solidFill>
          <a:ln w="12700">
            <a:solidFill>
              <a:srgbClr val="7B8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737360"/>
            <a:ext cx="1737360" cy="164592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783080"/>
            <a:ext cx="365760" cy="365760"/>
          </a:xfrm>
          <a:prstGeom prst="ellipse">
            <a:avLst/>
          </a:prstGeom>
          <a:solidFill>
            <a:srgbClr val="5E9CF5">
              <a:alpha val="40000"/>
            </a:srgbClr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9CF5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STRATEGIST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633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 · Draft plan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33088" y="2514600"/>
            <a:ext cx="594360" cy="27432"/>
          </a:xfrm>
          <a:prstGeom prst="rect">
            <a:avLst/>
          </a:prstGeom>
          <a:solidFill>
            <a:srgbClr val="7B8FB3"/>
          </a:solidFill>
          <a:ln w="12700">
            <a:solidFill>
              <a:srgbClr val="7B8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1737360"/>
            <a:ext cx="1737360" cy="1645920"/>
          </a:xfrm>
          <a:prstGeom prst="rect">
            <a:avLst/>
          </a:prstGeom>
          <a:solidFill>
            <a:srgbClr val="151D30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783080"/>
            <a:ext cx="365760" cy="36576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CRITIC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2633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 · Audit &amp; Score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2514600"/>
            <a:ext cx="594360" cy="27432"/>
          </a:xfrm>
          <a:prstGeom prst="rect">
            <a:avLst/>
          </a:prstGeom>
          <a:solidFill>
            <a:srgbClr val="7B8FB3"/>
          </a:solidFill>
          <a:ln w="12700">
            <a:solidFill>
              <a:srgbClr val="7B8F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737360"/>
            <a:ext cx="1737360" cy="1645920"/>
          </a:xfrm>
          <a:prstGeom prst="rect">
            <a:avLst/>
          </a:prstGeom>
          <a:solidFill>
            <a:srgbClr val="151D30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783080"/>
            <a:ext cx="365760" cy="365760"/>
          </a:xfrm>
          <a:prstGeom prst="ellipse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633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confidenceScore + finalAdvice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2578608" cy="1234440"/>
          </a:xfrm>
          <a:prstGeom prst="rect">
            <a:avLst/>
          </a:prstGeom>
          <a:solidFill>
            <a:srgbClr val="0D1528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3730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Anti-Hallucination Logic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checks if claimed savings are mathematically impossible relative to actual loan data. Any fabricated figures instantly reduce confidenceScore.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703320"/>
            <a:ext cx="2578608" cy="1234440"/>
          </a:xfrm>
          <a:prstGeom prst="rect">
            <a:avLst/>
          </a:prstGeom>
          <a:solidFill>
            <a:srgbClr val="0D1528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37560" y="3730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Scam Detector Built-in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41148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mentions 'lottery', 'crypto windfall', 'spaceship', or non-existent accounts — confidenceScore drops to ≤ 30, forcing human handoff.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0" y="3703320"/>
            <a:ext cx="2578608" cy="1234440"/>
          </a:xfrm>
          <a:prstGeom prst="rect">
            <a:avLst/>
          </a:prstGeom>
          <a:solidFill>
            <a:srgbClr val="0D1528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80760" y="3730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Structured JSON Output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1148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returns a typed object: { confidenceScore, reasoning, finalAdvice } — never raw unvalidated text.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MECHANISM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UI-Level Scam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Interception &amp; Human Handoff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8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ROUTING ENGINE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280160" cy="566928"/>
          </a:xfrm>
          <a:prstGeom prst="rect">
            <a:avLst/>
          </a:prstGeom>
          <a:solidFill>
            <a:srgbClr val="34D399">
              <a:alpha val="20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&gt; 80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74520" y="2121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2011680"/>
            <a:ext cx="3200400" cy="566928"/>
          </a:xfrm>
          <a:prstGeom prst="rect">
            <a:avLst/>
          </a:prstGeom>
          <a:solidFill>
            <a:srgbClr val="0D1528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Safe — Advice Rendered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95728" y="23134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response displayed to user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816352"/>
            <a:ext cx="1280160" cy="566928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30–79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40280" y="2816352"/>
            <a:ext cx="3200400" cy="566928"/>
          </a:xfrm>
          <a:prstGeom prst="rect">
            <a:avLst/>
          </a:prstGeom>
          <a:solidFill>
            <a:srgbClr val="0D1528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95728" y="2862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Low Confidence — Flagged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95728" y="31181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warning shown, advice visible with caution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621024"/>
            <a:ext cx="1280160" cy="566928"/>
          </a:xfrm>
          <a:prstGeom prst="rect">
            <a:avLst/>
          </a:prstGeom>
          <a:solidFill>
            <a:srgbClr val="F87171">
              <a:alpha val="20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12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≤ 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37307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40280" y="3621024"/>
            <a:ext cx="3200400" cy="566928"/>
          </a:xfrm>
          <a:prstGeom prst="rect">
            <a:avLst/>
          </a:prstGeom>
          <a:solidFill>
            <a:srgbClr val="0D1528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95728" y="36667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BLOCKED — Human Handoff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95728" y="39227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hidden · Red alert · Routed to HumanCallback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1417320"/>
            <a:ext cx="3383280" cy="3474720"/>
          </a:xfrm>
          <a:prstGeom prst="rect">
            <a:avLst/>
          </a:prstGeom>
          <a:solidFill>
            <a:srgbClr val="0D1528"/>
          </a:solidFill>
          <a:ln w="12700">
            <a:solidFill>
              <a:srgbClr val="F8717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68312" y="2862072"/>
            <a:ext cx="402336" cy="402336"/>
          </a:xfrm>
          <a:prstGeom prst="ellipse">
            <a:avLst/>
          </a:prstGeom>
          <a:solidFill>
            <a:srgbClr val="F87171">
              <a:alpha val="3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8986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AI Agents Chat Screen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🚨 Scam Detected UI module replacing chat bubble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ANTI-HALLUCINATION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Deterministic Math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AI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83464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4023360" cy="411480"/>
          </a:xfrm>
          <a:prstGeom prst="rect">
            <a:avLst/>
          </a:prstGeom>
          <a:solidFill>
            <a:srgbClr val="5E9CF5">
              <a:alpha val="25000"/>
            </a:srgbClr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Does This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54864" cy="54864"/>
          </a:xfrm>
          <a:prstGeom prst="rect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strategic reasoning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54864" cy="54864"/>
          </a:xfrm>
          <a:prstGeom prst="rect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prioritization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346704"/>
            <a:ext cx="54864" cy="54864"/>
          </a:xfrm>
          <a:prstGeom prst="rect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826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pattern recognition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867912"/>
            <a:ext cx="54864" cy="54864"/>
          </a:xfrm>
          <a:prstGeom prst="rect">
            <a:avLst/>
          </a:prstGeom>
          <a:solidFill>
            <a:srgbClr val="5E9CF5"/>
          </a:solidFill>
          <a:ln w="12700">
            <a:solidFill>
              <a:srgbClr val="5E9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039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financial advice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2834640"/>
          </a:xfrm>
          <a:prstGeom prst="rect">
            <a:avLst/>
          </a:prstGeom>
          <a:solidFill>
            <a:srgbClr val="151D3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React Calculates This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608" y="2304288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floating-point amortization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64608" y="2825496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Paid &amp; Interest figures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64608" y="3346704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2826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EMIs from percent_repaid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64608" y="3867912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8039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date dynamic scroll logic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0520" y="27432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B8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6052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BF24"/>
                </a:solidFill>
              </a:rPr>
              <a:t>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4023360" cy="320040"/>
          </a:xfrm>
          <a:prstGeom prst="rect">
            <a:avLst/>
          </a:prstGeom>
          <a:solidFill>
            <a:srgbClr val="0D1528"/>
          </a:solidFill>
          <a:ln w="12700">
            <a:solidFill>
              <a:srgbClr val="34D39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267712" y="4530852"/>
            <a:ext cx="402336" cy="402336"/>
          </a:xfrm>
          <a:prstGeom prst="ellipse">
            <a:avLst/>
          </a:prstGeom>
          <a:solidFill>
            <a:srgbClr val="34D399">
              <a:alpha val="3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5674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49880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Code snippet — percent_repaid EMI calculation in React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52623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math calculation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4663440"/>
            <a:ext cx="4023360" cy="320040"/>
          </a:xfrm>
          <a:prstGeom prst="rect">
            <a:avLst/>
          </a:prstGeom>
          <a:solidFill>
            <a:srgbClr val="0D1528"/>
          </a:solidFill>
          <a:ln w="12700">
            <a:solidFill>
              <a:srgbClr val="5E9CF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73952" y="4530852"/>
            <a:ext cx="402336" cy="402336"/>
          </a:xfrm>
          <a:prstGeom prst="ellipse">
            <a:avLst/>
          </a:prstGeom>
          <a:solidFill>
            <a:srgbClr val="5E9CF5">
              <a:alpha val="30000"/>
            </a:srgbClr>
          </a:solidFill>
          <a:ln w="6350">
            <a:solidFill>
              <a:srgbClr val="5E9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5674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0600" y="49880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Expanded loan card screenshot — Principal Paid, Remaining EMIs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52623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Profile page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SECURITY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Context Injection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DPDP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2560320"/>
          </a:xfrm>
          <a:prstGeom prst="rect">
            <a:avLst/>
          </a:prstGeom>
          <a:solidFill>
            <a:srgbClr val="0D1528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User ID to backend — zero sensitive data exposed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41448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3472" y="1691640"/>
            <a:ext cx="1965960" cy="2560320"/>
          </a:xfrm>
          <a:prstGeom prst="rect">
            <a:avLst/>
          </a:prstGeom>
          <a:solidFill>
            <a:srgbClr val="0D1528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24912" y="2240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24912" y="24505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2798064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request, fetches full JSON profile from Firestore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9744" y="1691640"/>
            <a:ext cx="1965960" cy="2560320"/>
          </a:xfrm>
          <a:prstGeom prst="rect">
            <a:avLst/>
          </a:prstGeom>
          <a:solidFill>
            <a:srgbClr val="0D1528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68112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01184" y="2240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01184" y="24505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01184" y="2798064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credit JSON: loans, CIBIL, cards — authorized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93992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86016" y="1691640"/>
            <a:ext cx="1965960" cy="2560320"/>
          </a:xfrm>
          <a:prstGeom prst="rect">
            <a:avLst/>
          </a:prstGeom>
          <a:solidFill>
            <a:srgbClr val="0D1528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44384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77456" y="2240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077456" y="24505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77456" y="2798064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injected as [CONFIDENTIAL CONTEXT] in system prompt — hidden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8321040" cy="502920"/>
          </a:xfrm>
          <a:prstGeom prst="rect">
            <a:avLst/>
          </a:prstGeom>
          <a:solidFill>
            <a:srgbClr val="07102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544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PRINCIPLE: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5445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NEVER passes raw financial data to the LLM. Only the backend stitches authenticated payloads into the secure prompt.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1280160"/>
            <a:ext cx="8321040" cy="320040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416552" y="1147572"/>
            <a:ext cx="402336" cy="402336"/>
          </a:xfrm>
          <a:prstGeom prst="ellipse">
            <a:avLst/>
          </a:prstGeom>
          <a:solidFill>
            <a:srgbClr val="A78BFA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11841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16047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server.js code — profileContext injection variable with [CONFIDENTIAL CONTEXT] tag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18790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code snippet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EMI Simulator &amp; Explainable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100584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Amortization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adjusts extra EMI prepayment → instant payoff year projection on dual-axis Recharts 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206240" cy="1005840"/>
          </a:xfrm>
          <a:prstGeom prst="rect">
            <a:avLst/>
          </a:prstGeom>
          <a:solidFill>
            <a:srgbClr val="151D30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 (SHAP)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9443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SHAP-style feature importance breakdown: IT Stability, EMI Ratio, College Tier — why the AI recommends the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206240" cy="1005840"/>
          </a:xfrm>
          <a:prstGeom prst="rect">
            <a:avLst/>
          </a:prstGeom>
          <a:solidFill>
            <a:srgbClr val="151D30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749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 Trigger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0873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 payment &gt; 2.5× EMI, confidence drops, modal fires → 'Route to Human Advisor' off-ramp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325880"/>
            <a:ext cx="4069080" cy="3657600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725412" y="2862072"/>
            <a:ext cx="402336" cy="402336"/>
          </a:xfrm>
          <a:prstGeom prst="ellipse">
            <a:avLst/>
          </a:prstGeom>
          <a:solidFill>
            <a:srgbClr val="A78BFA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3700" y="28986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319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Simulator Page Screenshot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593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line chart + SHAP analysis panel open side by side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DOMAIN-SPECIFIC INNOVATION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CSIS Tracker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RegulatoryAction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0" cy="1554480"/>
          </a:xfrm>
          <a:prstGeom prst="rect">
            <a:avLst/>
          </a:prstGeom>
          <a:solidFill>
            <a:srgbClr val="151D3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Scheme of Interest Subsidy (CSIS)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7568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moratorium period with animated progress bar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386584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134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interest paid counter (auto-calculated)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62432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5117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NACH mandate and EWS certificate deadlines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86207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889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scheme-compliant monitoring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029200" cy="1554480"/>
          </a:xfrm>
          <a:prstGeom prst="rect">
            <a:avLst/>
          </a:prstGeom>
          <a:solidFill>
            <a:srgbClr val="151D30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47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Action — RBI Ombudsman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886200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1304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loan card has 'Report Unauthorized Loan' button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123944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507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formal dispute submission to RBI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361688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28853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compliant — no raw data leaves the secure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459943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2628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integration with actual RBI Ombudsman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463040"/>
            <a:ext cx="3291840" cy="3291840"/>
          </a:xfrm>
          <a:prstGeom prst="rect">
            <a:avLst/>
          </a:prstGeom>
          <a:solidFill>
            <a:srgbClr val="0D1528"/>
          </a:solidFill>
          <a:ln w="12700">
            <a:solidFill>
              <a:srgbClr val="34D39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114032" y="2816352"/>
            <a:ext cx="402336" cy="402336"/>
          </a:xfrm>
          <a:prstGeom prst="ellipse">
            <a:avLst/>
          </a:prstGeom>
          <a:solidFill>
            <a:srgbClr val="34D399">
              <a:alpha val="3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8529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CSIS Moratorium Bar + RBI Report Button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screenshot: CSIS Tracker (top) + Report Unauthorized Loan (bottom)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INTELLECTUAL PROPERTY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IP Generation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 LoRA Fine-Tuning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1371600"/>
          </a:xfrm>
          <a:prstGeom prst="rect">
            <a:avLst/>
          </a:prstGeom>
          <a:solidFill>
            <a:srgbClr val="0D1528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Response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confidenceScore ≥ 80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4144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691640"/>
            <a:ext cx="1965960" cy="1371600"/>
          </a:xfrm>
          <a:prstGeom prst="rect">
            <a:avLst/>
          </a:prstGeom>
          <a:solidFill>
            <a:srgbClr val="0D1528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logToLoRA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487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function fires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600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1965960" cy="1371600"/>
          </a:xfrm>
          <a:prstGeom prst="rect">
            <a:avLst/>
          </a:prstGeom>
          <a:solidFill>
            <a:srgbClr val="0D1528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JSONL Entry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lora-training-data.jsonl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30568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B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691640"/>
            <a:ext cx="1965960" cy="1371600"/>
          </a:xfrm>
          <a:prstGeom prst="rect">
            <a:avLst/>
          </a:prstGeom>
          <a:solidFill>
            <a:srgbClr val="0D1528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Smaller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487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8B → Specialized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74320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69417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expensive Groq/OpenAI APIs with your own fine-tuned 8B model — 90% cheaper inference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55848" y="3291840"/>
            <a:ext cx="274320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Dataset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69417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interaction becomes corporate IP — a moat competitors can't replicate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3291840"/>
            <a:ext cx="2743200" cy="1463040"/>
          </a:xfrm>
          <a:prstGeom prst="rect">
            <a:avLst/>
          </a:prstGeom>
          <a:solidFill>
            <a:srgbClr val="151D30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19088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Accuracy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369417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 with every verified answer — a self-reinforcing feedback loop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416552" y="4645152"/>
            <a:ext cx="402336" cy="402336"/>
          </a:xfrm>
          <a:prstGeom prst="ellipse">
            <a:avLst/>
          </a:prstGeom>
          <a:solidFill>
            <a:srgbClr val="FBBF24">
              <a:alpha val="3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6817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51023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VSCode screenshot of lora-training-data.jsonl with JSONL entries visible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5376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training file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5E9CF5">
              <a:alpha val="8000"/>
            </a:srgbClr>
          </a:solidFill>
          <a:ln w="6350">
            <a:solidFill>
              <a:srgbClr val="5E9CF5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822960"/>
            <a:ext cx="1828800" cy="182880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9C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WALKTHROUGH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LIVE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DEMONSTRATION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51760" cy="109728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9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Profile Switching — 4 users, live Firebase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834640"/>
            <a:ext cx="2651760" cy="109728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9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02152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EMI Simulator — slider adjusts payoff year in real-time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2651760" cy="1097280"/>
          </a:xfrm>
          <a:prstGeom prst="rect">
            <a:avLst/>
          </a:prstGeom>
          <a:solidFill>
            <a:srgbClr val="151D3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9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82512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Scam Trap — type a lottery query, watch the red interception fire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321040" cy="868680"/>
          </a:xfrm>
          <a:prstGeom prst="rect">
            <a:avLst/>
          </a:prstGeom>
          <a:solidFill>
            <a:srgbClr val="0D1528"/>
          </a:solidFill>
          <a:ln w="12700">
            <a:solidFill>
              <a:srgbClr val="34D39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16552" y="4256532"/>
            <a:ext cx="402336" cy="402336"/>
          </a:xfrm>
          <a:prstGeom prst="ellipse">
            <a:avLst/>
          </a:prstGeom>
          <a:solidFill>
            <a:srgbClr val="34D399">
              <a:alpha val="3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2931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137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INSERT: Demo placeholder / project screenshot or QR code to live deployment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9880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live screen for demonstration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53712" y="0"/>
            <a:ext cx="36576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SECURE  ·  INTELLIGENT  ·  DEFENSIBLE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Bridging the gap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between generative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&amp; deterministic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engineering.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27432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Kumar  ·  22BCS14872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Oriented Project — Final 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9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846320" y="411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B8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4023360" cy="658368"/>
          </a:xfrm>
          <a:prstGeom prst="rect">
            <a:avLst/>
          </a:prstGeom>
          <a:solidFill>
            <a:srgbClr val="0B1020"/>
          </a:solidFill>
          <a:ln w="10160">
            <a:solidFill>
              <a:srgbClr val="5E9CF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886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68112" y="886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debating eliminates AI hallucinations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581912"/>
            <a:ext cx="4023360" cy="658368"/>
          </a:xfrm>
          <a:prstGeom prst="rect">
            <a:avLst/>
          </a:prstGeom>
          <a:solidFill>
            <a:srgbClr val="0B1020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68112" y="1691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scam detection with UI-level interception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386584"/>
            <a:ext cx="4023360" cy="658368"/>
          </a:xfrm>
          <a:prstGeom prst="rect">
            <a:avLst/>
          </a:prstGeom>
          <a:solidFill>
            <a:srgbClr val="0B1020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68112" y="24963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Context Injection ensures DPDP compliance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191256"/>
            <a:ext cx="4023360" cy="658368"/>
          </a:xfrm>
          <a:prstGeom prst="rect">
            <a:avLst/>
          </a:prstGeom>
          <a:solidFill>
            <a:srgbClr val="0B1020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8112" y="33009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math fully decoupled from AI reasoning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995928"/>
            <a:ext cx="4023360" cy="658368"/>
          </a:xfrm>
          <a:prstGeom prst="rect">
            <a:avLst/>
          </a:prstGeom>
          <a:solidFill>
            <a:srgbClr val="0B1020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68112" y="41056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LoRA pipeline builds proprietary IP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Debt Optimizer</dc:title>
  <dc:subject>PptxGenJS Presentation</dc:subject>
  <dc:creator>PptxGenJS</dc:creator>
  <cp:lastModifiedBy>PptxGenJS</cp:lastModifiedBy>
  <cp:revision>1</cp:revision>
  <dcterms:created xsi:type="dcterms:W3CDTF">2026-04-26T17:38:31Z</dcterms:created>
  <dcterms:modified xsi:type="dcterms:W3CDTF">2026-04-26T17:38:31Z</dcterms:modified>
</cp:coreProperties>
</file>