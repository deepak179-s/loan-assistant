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13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502920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INT428 · IOP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AI-Powered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Financial Debt</a:t>
            </a:r>
          </a:p>
          <a:p>
            <a:pPr algn="l"/>
            <a:r>
              <a:rPr sz="4000" b="1">
                <a:solidFill>
                  <a:srgbClr val="00C9A7"/>
                </a:solidFill>
                <a:latin typeface="Trebuchet MS"/>
              </a:rPr>
              <a:t>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BC4"/>
                </a:solidFill>
                <a:latin typeface="Trebuchet MS"/>
              </a:rPr>
              <a:t>&amp; Loan Assistant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11880"/>
            <a:ext cx="27432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rebuchet MS"/>
              </a:rPr>
              <a:t>Presented By: Deepak Kumar</a:t>
            </a:r>
          </a:p>
          <a:p>
            <a:pPr algn="l"/>
            <a:r>
              <a:rPr sz="1100" b="0">
                <a:solidFill>
                  <a:srgbClr val="8A9BC4"/>
                </a:solidFill>
                <a:latin typeface="Trebuchet MS"/>
              </a:rPr>
              <a:t>UID: 22BCS14872</a:t>
            </a:r>
          </a:p>
          <a:p>
            <a:pPr algn="l"/>
            <a:r>
              <a:rPr sz="1100" b="0">
                <a:solidFill>
                  <a:srgbClr val="8A9BC4"/>
                </a:solidFill>
                <a:latin typeface="Trebuchet MS"/>
              </a:rPr>
              <a:t>B.E. — Computer Science &amp; Engineering</a:t>
            </a:r>
          </a:p>
          <a:p>
            <a:pPr algn="l"/>
            <a:r>
              <a:rPr sz="1100" b="0">
                <a:solidFill>
                  <a:srgbClr val="8A9BC4"/>
                </a:solidFill>
                <a:latin typeface="Trebuchet MS"/>
              </a:rPr>
              <a:t>Chandigarh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74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4"/>
                </a:solidFill>
                <a:latin typeface="Trebuchet MS"/>
              </a:rPr>
              <a:t>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394960"/>
            <a:ext cx="1143000" cy="347472"/>
          </a:xfrm>
          <a:prstGeom prst="rect">
            <a:avLst/>
          </a:prstGeom>
          <a:solidFill>
            <a:srgbClr val="1A284D"/>
          </a:solidFill>
          <a:ln w="889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545896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A7"/>
                </a:solidFill>
                <a:latin typeface="Trebuchet MS"/>
              </a:rPr>
              <a:t>React.js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7068" y="5394960"/>
            <a:ext cx="1143000" cy="347472"/>
          </a:xfrm>
          <a:prstGeom prst="rect">
            <a:avLst/>
          </a:prstGeom>
          <a:solidFill>
            <a:srgbClr val="1A284D"/>
          </a:solidFill>
          <a:ln w="889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55648" y="545896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A7"/>
                </a:solidFill>
                <a:latin typeface="Trebuchet MS"/>
              </a:rPr>
              <a:t>Node.js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2374" y="5394960"/>
            <a:ext cx="1143000" cy="347472"/>
          </a:xfrm>
          <a:prstGeom prst="rect">
            <a:avLst/>
          </a:prstGeom>
          <a:solidFill>
            <a:srgbClr val="1A284D"/>
          </a:solidFill>
          <a:ln w="889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35808" y="545896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A7"/>
                </a:solidFill>
                <a:latin typeface="Trebuchet MS"/>
              </a:rPr>
              <a:t>Firebase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38" y="5394960"/>
            <a:ext cx="1271002" cy="347472"/>
          </a:xfrm>
          <a:prstGeom prst="rect">
            <a:avLst/>
          </a:prstGeom>
          <a:solidFill>
            <a:srgbClr val="1A284D"/>
          </a:solidFill>
          <a:ln w="889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9694" y="5463411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00C9A7"/>
                </a:solidFill>
                <a:latin typeface="Trebuchet MS"/>
              </a:rPr>
              <a:t>Groq</a:t>
            </a:r>
            <a:r>
              <a:rPr sz="900" b="1" i="0" dirty="0">
                <a:solidFill>
                  <a:srgbClr val="00C9A7"/>
                </a:solidFill>
                <a:latin typeface="Trebuchet MS"/>
              </a:rPr>
              <a:t> · Llama</a:t>
            </a:r>
            <a:r>
              <a:rPr lang="en-IN" sz="900" b="1" i="0" dirty="0">
                <a:solidFill>
                  <a:srgbClr val="00C9A7"/>
                </a:solidFill>
                <a:latin typeface="Trebuchet MS"/>
              </a:rPr>
              <a:t>-3</a:t>
            </a:r>
            <a:r>
              <a:rPr lang="en-US" sz="900" b="1" i="0" dirty="0">
                <a:solidFill>
                  <a:srgbClr val="00C9A7"/>
                </a:solidFill>
                <a:latin typeface="Trebuchet MS"/>
              </a:rPr>
              <a:t> </a:t>
            </a:r>
            <a:endParaRPr sz="900" b="1" i="0" dirty="0">
              <a:solidFill>
                <a:srgbClr val="00C9A7"/>
              </a:solidFill>
              <a:latin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35040" y="365760"/>
            <a:ext cx="5852160" cy="612648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9" y="320040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Dashboard with
  CIBIL card + Area Chart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rebuchet MS"/>
              </a:rPr>
              <a:t>Why Current FinTech AI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Three critical, unsolved flaws in every existing AI financial chatbot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657600" cy="4297680"/>
          </a:xfrm>
          <a:prstGeom prst="rect">
            <a:avLst/>
          </a:prstGeom>
          <a:solidFill>
            <a:srgbClr val="1A28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828800"/>
            <a:ext cx="475488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B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Trebuchet MS"/>
              </a:rPr>
              <a:t>Mathematical
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6888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LLMs are text predictors — not calculators.
They fabricate amortization results, producing
figures that could cost users crores of rupees.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691640"/>
            <a:ext cx="3657600" cy="4297680"/>
          </a:xfrm>
          <a:prstGeom prst="rect">
            <a:avLst/>
          </a:prstGeom>
          <a:solidFill>
            <a:srgbClr val="1A284D"/>
          </a:solidFill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1" y="1828800"/>
            <a:ext cx="475488" cy="47548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1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B"/>
                </a:solidFill>
                <a:latin typeface="Trebuchet 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783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Trebuchet MS"/>
              </a:rPr>
              <a:t>Fraud
Susceptibility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246888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Standard chatbots cannot distinguish between
a valid strategy and a WhatsApp lottery scam.
No guardrails exist in generic AI wrappers.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691640"/>
            <a:ext cx="3657600" cy="4297680"/>
          </a:xfrm>
          <a:prstGeom prst="rect">
            <a:avLst/>
          </a:prstGeom>
          <a:solidFill>
            <a:srgbClr val="1A284D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1" y="1828800"/>
            <a:ext cx="475488" cy="47548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B"/>
                </a:solidFill>
                <a:latin typeface="Trebuchet M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1783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FF"/>
                </a:solidFill>
                <a:latin typeface="Trebuchet MS"/>
              </a:rPr>
              <a:t>Data Privacy
(DPDP Violation)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468880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Asking users to type PAN numbers and loan
balances into chat windows violates India's
Digital Personal Data Protection Act, 2023.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691640"/>
            <a:ext cx="3657600" cy="429768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9" y="36118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Side-by-side: ChatGPT
  math fail + Scam WhatsApp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System Architecture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Decoupled 3-tier design — security by isolation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303520" cy="960120"/>
          </a:xfrm>
          <a:prstGeom prst="rect">
            <a:avLst/>
          </a:prstGeom>
          <a:solidFill>
            <a:srgbClr val="1A284D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73152" cy="960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Trebuchet M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React.js 19 · Vite · TypeScript
Recharts · Lucide-React · React-Router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303520" cy="960120"/>
          </a:xfrm>
          <a:prstGeom prst="rect">
            <a:avLst/>
          </a:prstGeom>
          <a:solidFill>
            <a:srgbClr val="1A284D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73152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Trebuchet M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Node.js · Express.js 5
Vercel Serverless 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303520" cy="960120"/>
          </a:xfrm>
          <a:prstGeom prst="rect">
            <a:avLst/>
          </a:prstGeom>
          <a:solidFill>
            <a:srgbClr val="1A284D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73152" cy="9601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  <a:latin typeface="Trebuchet MS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Firebase Firestore · Firebase Auth
OTP-based KYC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5303520" cy="960120"/>
          </a:xfrm>
          <a:prstGeom prst="rect">
            <a:avLst/>
          </a:prstGeom>
          <a:solidFill>
            <a:srgbClr val="1A284D"/>
          </a:solidFill>
          <a:ln w="1524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73152" cy="9601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Trebuchet MS"/>
              </a:rP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8A9BC4"/>
                </a:solidFill>
                <a:latin typeface="Trebuchet MS"/>
              </a:rPr>
              <a:t>Groq</a:t>
            </a:r>
            <a:r>
              <a:rPr sz="1100" b="0" i="0" dirty="0">
                <a:solidFill>
                  <a:srgbClr val="8A9BC4"/>
                </a:solidFill>
                <a:latin typeface="Trebuchet MS"/>
              </a:rPr>
              <a:t> Cloud · Llama-3.3-70B-V</a:t>
            </a:r>
            <a:r>
              <a:rPr lang="en-US" sz="1100" b="0" i="0" dirty="0">
                <a:solidFill>
                  <a:srgbClr val="8A9BC4"/>
                </a:solidFill>
                <a:latin typeface="Trebuchet MS"/>
              </a:rPr>
              <a:t>e</a:t>
            </a:r>
            <a:r>
              <a:rPr sz="1100" b="0" i="0" dirty="0">
                <a:solidFill>
                  <a:srgbClr val="8A9BC4"/>
                </a:solidFill>
                <a:latin typeface="Trebuchet MS"/>
              </a:rPr>
              <a:t>rsatile
Dual Agent Inference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576072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FIGURE 1:
  System Architecture Diagram
  (Frontend ↔ Backend ↔ Firebase / Groq)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CORE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Multi-Agent Debating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Two adversarial LLM agents work in sequence — one proposes, one audits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03520" cy="1691640"/>
          </a:xfrm>
          <a:prstGeom prst="rect">
            <a:avLst/>
          </a:prstGeom>
          <a:solidFill>
            <a:srgbClr val="1A28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3794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Agent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830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Trebuchet MS"/>
              </a:rPr>
              <a:t>Lead Strategist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• Receives user query + injected JSON profile
• Proposes Snowball / Avalanche debt strategy
• Explicitly BLOCKED from computing exact math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303520" cy="1691640"/>
          </a:xfrm>
          <a:prstGeom prst="rect">
            <a:avLst/>
          </a:prstGeom>
          <a:solidFill>
            <a:srgbClr val="1A284D"/>
          </a:solidFill>
          <a:ln w="1905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730752"/>
            <a:ext cx="1371600" cy="2560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581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Agent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03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FF"/>
                </a:solidFill>
                <a:latin typeface="Trebuchet MS"/>
              </a:rPr>
              <a:t>Expert 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• Independently audits the Strategist's draft
• Scans for impossible math &amp; fraud signals
• Outputs JSON: { confidenceScore, finalAdvice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32120"/>
            <a:ext cx="5303520" cy="822960"/>
          </a:xfrm>
          <a:prstGeom prst="rect">
            <a:avLst/>
          </a:prstGeom>
          <a:solidFill>
            <a:srgbClr val="0D0D2B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65099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Consolas"/>
              </a:rPr>
              <a:t>OUTPUT  →  { confidenceScore: 85, reasoning: '...', finalAdvice: '...'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76072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749039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FIGURE 2:
  Multi-Agent Debating Loop
  Flow Diagram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SAFETY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UI Scam Interception &amp; Human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React intercepts the confidence score and dynamically routes rendering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12064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Score 80 –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07A"/>
                </a:solidFill>
                <a:latin typeface="Trebuchet MS"/>
              </a:rPr>
              <a:t>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591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Normal AI advice rendered in chat.
LoRA dataset entry logged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12064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73152" cy="1188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172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Score 31 – 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29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  <a:latin typeface="Trebuchet MS"/>
              </a:rPr>
              <a:t>CAUTION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7647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Orange warning banner shown below advice.
Human Advisor link provided to user.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12064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73152" cy="1188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590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Score 0 –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46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3B3B"/>
                </a:solidFill>
                <a:latin typeface="Trebuchet MS"/>
              </a:rPr>
              <a:t>BLOCKED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9379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Red  🚨  Scam Alert module replaces chat.
Advice suppressed. Mandatory Human Callback.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463040"/>
            <a:ext cx="594360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3749039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AI Agents chat showing
  red  🚨  High Risk / Scam Detected
  module in the UI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C4"/>
                </a:solidFill>
                <a:latin typeface="Trebuchet MS"/>
              </a:rPr>
              <a:t>← See Figure 4 for the complete Confidence Score Routing Flowchart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Deterministic Math vs. AI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Clear separation of concerns eliminates all mathematical hallucinations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120640" cy="4480560"/>
          </a:xfrm>
          <a:prstGeom prst="rect">
            <a:avLst/>
          </a:prstGeom>
          <a:solidFill>
            <a:srgbClr val="1A284D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120640" cy="38404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rebuchet MS"/>
              </a:rPr>
              <a:t>🤖  AI's Job — Strategic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Snowball vs. Avalanche 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Section 80E tax deduction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7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Balance transfer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7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Macroeconomic context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1596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Scam and fraud signal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5120640" cy="4480560"/>
          </a:xfrm>
          <a:prstGeom prst="rect">
            <a:avLst/>
          </a:prstGeom>
          <a:solidFill>
            <a:srgbClr val="1A284D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5120640" cy="38404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664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42B"/>
                </a:solidFill>
                <a:latin typeface="Trebuchet MS"/>
              </a:rPr>
              <a:t>⚙️  React's Job — Exact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2140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Remaining EMIs  =  tenure − months_paid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700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Principal Paid  =  original − outstanding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1868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Interest Paid  =  (EMI × months) −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67327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Annual amortization projection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3159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C4"/>
                </a:solidFill>
                <a:latin typeface="Trebuchet MS"/>
              </a:rPr>
              <a:t>▸  Credit utilization % per card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0789920" cy="54864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Credit Profile page — expanded loan card showing computed Principal Paid, Interest Paid, Remaining EMIs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DATA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Trebuchet MS"/>
              </a:rPr>
              <a:t>Secure Context Injection  (DPDP Compliance)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A proprietary Structured Data RAG pipeline — no raw financial data ever touches the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FIGURE 3:
  Secure Context Injection
  Pipeline Diagram 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64008" cy="10789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  <a:latin typeface="Trebuchet M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Frontend sends ONLY { userId, query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12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No financial data exposed in browser network.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8892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788920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Trebuchet M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Backend fetches creditProfile from Firestore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4728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Authenticated server-side read — user never sees this.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64008" cy="107899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  <a:latin typeface="Trebuchet MS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JSON serialized with [CONFIDENTIAL CONTEXT]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81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PAN, loan balances, rates injected into system prompt.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25780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5257800"/>
            <a:ext cx="64008" cy="10789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0"/>
                </a:solidFill>
                <a:latin typeface="Trebuchet MS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Groq API invoked with complete secure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16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LLM reasons over real data. Frontend remains isolated.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EMI Simulator &amp; Explainable AI (SHAP)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Interactive amortization modeling with visual SHAP-based XAI transparency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13232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Simulator page with
  dual-axis line chart (Balance + InterestPaid),
  extra EMI slider moved, and SHAP panel open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554480"/>
            <a:ext cx="402336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Trebuchet MS"/>
              </a:rPr>
              <a:t>Dual-Axis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65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Balance trajectory vs. annual interest paid — rendered via Recharts with live amortization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788920"/>
            <a:ext cx="402336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2788920"/>
            <a:ext cx="64008" cy="10789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Trebuchet MS"/>
              </a:rPr>
              <a:t>Extra EMI Slider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Drag to simulate prepayments. Payoff year updates instantly — all client-side JavaScript math.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023360"/>
            <a:ext cx="402336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4023360"/>
            <a:ext cx="64008" cy="107899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  <a:latin typeface="Trebuchet MS"/>
              </a:rPr>
              <a:t>SHAP Analysis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34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Visual XAI showing feature weights:
IT Stability (+35%), Repo Rate (-22%),
EMI-Income Ratio (+40%).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5257800"/>
            <a:ext cx="402336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3840" y="5257800"/>
            <a:ext cx="64008" cy="10789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Trebuchet MS"/>
              </a:rPr>
              <a:t>HITL 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669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If slider &gt; 2.5× standard EMI, system flags edge case and routes to Human-in-the-Loop.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DOMAIN-SPECIFIC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CSIS Subsidy Tracker &amp; Regulatory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India-specific financial compliance features built for student borrowers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CSIS Tracker moratorium
  progress bar + Compliance Alerts panel
  + Report Unauthorized Loan button 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64008" cy="107899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  <a:latin typeface="Trebuchet MS"/>
              </a:rPr>
              <a:t>CSIS Moratorium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Tracks 12-month interest subsidy consumption
against moratorium period with a live progress bar.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8892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788920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Trebuchet MS"/>
              </a:rPr>
              <a:t>Compliance Alert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Time-coded deadline alerts for:
• Income proof / EWS certificate renewal
• NACH mandate validation
• ITR filing for Section 80E deduction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64008" cy="10789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Trebuchet MS"/>
              </a:rPr>
              <a:t>RBI Ombudsman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One-click 'Report Unauthorized Loan' inside every
expanded loan card — simulates regulatory friction
directly with the RBI complaint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257800"/>
            <a:ext cx="5577840" cy="1078992"/>
          </a:xfrm>
          <a:prstGeom prst="rect">
            <a:avLst/>
          </a:prstGeom>
          <a:solidFill>
            <a:srgbClr val="1A28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5257800"/>
            <a:ext cx="64008" cy="10789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349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  <a:latin typeface="Trebuchet MS"/>
              </a:rPr>
              <a:t>Balance Transfer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AI recommends BoB refinancing at 7.85% vs.
current 8.5% SBI rate — saving est. ₹2,10,000
across the loan tenure for premier graduates.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IP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Trebuchet MS"/>
              </a:rPr>
              <a:t>Continuous IP Generation — The LoRA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Every verified interaction auto-generates a proprietary fine-tuning dataset entry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Screenshot: Code editor showing
  lora-training-data.jsonl file
  with formatted JSONL entries 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1A284D"/>
          </a:solidFill>
          <a:ln w="1524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Trebuchet MS"/>
              </a:rPr>
              <a:t>How the Pipeline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12848"/>
            <a:ext cx="594360" cy="2926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2199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42B"/>
                </a:solidFill>
                <a:latin typeface="Trebuchet MS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confidenceScore ≥ 80 after Critic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505456"/>
            <a:ext cx="18288" cy="548640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054096"/>
            <a:ext cx="59436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3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42B"/>
                </a:solidFill>
                <a:latin typeface="Trebuchet MS"/>
              </a:rP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358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System prompt + user query + finalAdvice recorded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346703"/>
            <a:ext cx="18288" cy="548640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895344"/>
            <a:ext cx="59436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904487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42B"/>
                </a:solidFill>
                <a:latin typeface="Trebuchet MS"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770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Structured as 3-turn JSONL (system/user/assistant)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187952"/>
            <a:ext cx="18288" cy="548640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4736592"/>
            <a:ext cx="59436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7457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42B"/>
                </a:solidFill>
                <a:latin typeface="Trebuchet MS"/>
              </a:rPr>
              <a:t>APPEND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1830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Logged to lora-training-data.jsonl on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029200"/>
            <a:ext cx="18288" cy="548640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5577840"/>
            <a:ext cx="594360" cy="29260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558698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42B"/>
                </a:solidFill>
                <a:latin typeface="Trebuchet MS"/>
              </a:rPr>
              <a:t>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5595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Fine-tune Llama-3 8B — 10× cheaper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846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DEMO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rebuchet MS"/>
              </a:rPr>
              <a:t>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C4"/>
                </a:solidFill>
                <a:latin typeface="Trebuchet MS"/>
              </a:rPr>
              <a:t>Three key scenarios will be demonstrated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777240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B"/>
                </a:solidFill>
                <a:latin typeface="Trebuchet M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146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Trebuchet MS"/>
              </a:rPr>
              <a:t>Dynamic Profile Switching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07792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Switch between Deepak (784 CIBIL), Sumit (650), Kashish (810)
and Tarun (720) — watch charts and advice update in real-time.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777240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B"/>
                </a:solidFill>
                <a:latin typeface="Trebuchet M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9319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Trebuchet MS"/>
              </a:rPr>
              <a:t>Interactive EMI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325112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Drag the prepayment slider — observe payoff year change
and SHAP analysis update live with XAI feature weights.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7772400" cy="1188720"/>
          </a:xfrm>
          <a:prstGeom prst="rect">
            <a:avLst/>
          </a:prstGeom>
          <a:solidFill>
            <a:srgbClr val="1A284D"/>
          </a:solidFill>
          <a:ln w="19050">
            <a:solidFill>
              <a:srgbClr val="FF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73152" cy="1188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468112"/>
            <a:ext cx="502920" cy="5029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4681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B"/>
                </a:solidFill>
                <a:latin typeface="Trebuchet M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349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B3B"/>
                </a:solidFill>
                <a:latin typeface="Trebuchet MS"/>
              </a:rPr>
              <a:t>The Scam Trap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742432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4"/>
                </a:solidFill>
                <a:latin typeface="Trebuchet MS"/>
              </a:rPr>
              <a:t>Ask: 'I got a message I won a lottery of ₹5 lakh and they
want GST of ₹10,000' — watch the 🚨 Scam Alert fire.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011680"/>
            <a:ext cx="3566160" cy="420624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19" y="388620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Demo placeholder /
  project running
  at localhost:5173 ]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371600" cy="2560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42B"/>
                </a:solidFill>
                <a:latin typeface="Trebuchet M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rebuchet MS"/>
              </a:rPr>
              <a:t>Bridging Generative AI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A7"/>
                </a:solidFill>
                <a:latin typeface="Trebuchet MS"/>
              </a:rPr>
              <a:t>Deterministic Financial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4114800" cy="36576"/>
          </a:xfrm>
          <a:prstGeom prst="rect">
            <a:avLst/>
          </a:prstGeom>
          <a:solidFill>
            <a:srgbClr val="8A9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82880" cy="182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Multi-Agent Debating eliminates AI hallucinations &amp; fraud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82880" cy="182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Secure Context Injection ensures full DPDP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82880" cy="182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1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Deterministic frontend math provides provably correct 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79"/>
            <a:ext cx="182880" cy="182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LoRA pipeline generates compounding proprietary IP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59"/>
            <a:ext cx="182880" cy="182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4"/>
                </a:solidFill>
                <a:latin typeface="Trebuchet MS"/>
              </a:rPr>
              <a:t>Platform designed for scale: CIBIL API, mobile app, Hindi NLP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57200"/>
            <a:ext cx="5212080" cy="5212080"/>
          </a:xfrm>
          <a:prstGeom prst="rect">
            <a:avLst/>
          </a:prstGeom>
          <a:solidFill>
            <a:srgbClr val="0A1226"/>
          </a:solidFill>
          <a:ln w="15240">
            <a:solidFill>
              <a:srgbClr val="00C9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59" y="2834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1">
                <a:solidFill>
                  <a:srgbClr val="00C9A7"/>
                </a:solidFill>
                <a:latin typeface="Trebuchet MS"/>
              </a:rPr>
              <a:t>[ Final Dashboard screenshot
  or project logo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Thank You  ·  Open for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4"/>
                </a:solidFill>
                <a:latin typeface="Trebuchet MS"/>
              </a:rPr>
              <a:t>Deepak Kumar  |  22BCS14872  |  B.E. CSE  |  Chandigarh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C4"/>
                </a:solidFill>
                <a:latin typeface="Trebuchet M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1288</Words>
  <Application>Microsoft Macintosh PowerPoint</Application>
  <PresentationFormat>Custom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</cp:lastModifiedBy>
  <cp:revision>2</cp:revision>
  <dcterms:created xsi:type="dcterms:W3CDTF">2013-01-27T09:14:16Z</dcterms:created>
  <dcterms:modified xsi:type="dcterms:W3CDTF">2026-04-26T09:38:00Z</dcterms:modified>
  <cp:category/>
</cp:coreProperties>
</file>